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0B9E8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568</c:v>
                </c:pt>
                <c:pt idx="1">
                  <c:v>432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860-4DE7-B9B2-940FF0F106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07FF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India</c:v>
                </c:pt>
                <c:pt idx="1">
                  <c:v>Sri Lanka</c:v>
                </c:pt>
                <c:pt idx="2">
                  <c:v>Canada</c:v>
                </c:pt>
                <c:pt idx="3">
                  <c:v>United States</c:v>
                </c:pt>
                <c:pt idx="4">
                  <c:v>UAE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655</c:v>
                </c:pt>
                <c:pt idx="1">
                  <c:v>50</c:v>
                </c:pt>
                <c:pt idx="2">
                  <c:v>41</c:v>
                </c:pt>
                <c:pt idx="3">
                  <c:v>39</c:v>
                </c:pt>
                <c:pt idx="4">
                  <c:v>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83D-46FE-AF6A-9C17C22833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07FFF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Completed</c:v>
                </c:pt>
                <c:pt idx="1">
                  <c:v>Cancelled</c:v>
                </c:pt>
                <c:pt idx="2">
                  <c:v>Confirmed</c:v>
                </c:pt>
                <c:pt idx="3">
                  <c:v>Pending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772</c:v>
                </c:pt>
                <c:pt idx="1">
                  <c:v>141</c:v>
                </c:pt>
                <c:pt idx="2">
                  <c:v>79</c:v>
                </c:pt>
                <c:pt idx="3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26B-4D94-8065-F21F925FCE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0B9E8"/>
            </a:solidFill>
            <a:ln>
              <a:noFill/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Flight</c:v>
                </c:pt>
                <c:pt idx="1">
                  <c:v>Train</c:v>
                </c:pt>
                <c:pt idx="2">
                  <c:v>Car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682</c:v>
                </c:pt>
                <c:pt idx="1">
                  <c:v>186</c:v>
                </c:pt>
                <c:pt idx="2">
                  <c:v>132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0E6-43BC-90EB-DBE82D404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07FFF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Discount amount</c:v>
                </c:pt>
                <c:pt idx="1">
                  <c:v>Number of rooms</c:v>
                </c:pt>
                <c:pt idx="2">
                  <c:v>Travellers</c:v>
                </c:pt>
                <c:pt idx="3">
                  <c:v>Adults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0.54</c:v>
                </c:pt>
                <c:pt idx="2">
                  <c:v>0.53</c:v>
                </c:pt>
                <c:pt idx="3">
                  <c:v>0.48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804-421C-AA92-5C37C4DFA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07FFF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278</c:v>
                </c:pt>
                <c:pt idx="1">
                  <c:v>372</c:v>
                </c:pt>
                <c:pt idx="2">
                  <c:v>339</c:v>
                </c:pt>
                <c:pt idx="3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2BB-4DF7-B013-BF5A9B05D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EE9123"/>
            </a:solidFill>
            <a:ln>
              <a:noFill/>
            </a:ln>
          </c:spPr>
          <c:invertIfNegative val="1"/>
          <c:cat>
            <c:strRef>
              <c:f>Sheet1!$A$2:$A$8</c:f>
              <c:strCache>
                <c:ptCount val="7"/>
                <c:pt idx="0">
                  <c:v>Family emergency</c:v>
                </c:pt>
                <c:pt idx="1">
                  <c:v>Transport disruption</c:v>
                </c:pt>
                <c:pt idx="2">
                  <c:v>Visa issue</c:v>
                </c:pt>
                <c:pt idx="3">
                  <c:v>Budget constraints</c:v>
                </c:pt>
                <c:pt idx="4">
                  <c:v>Medical emergency</c:v>
                </c:pt>
                <c:pt idx="5">
                  <c:v>Work commitment</c:v>
                </c:pt>
                <c:pt idx="6">
                  <c:v>Change of plans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</c:v>
                </c:pt>
                <c:pt idx="1">
                  <c:v>24</c:v>
                </c:pt>
                <c:pt idx="2">
                  <c:v>22</c:v>
                </c:pt>
                <c:pt idx="3">
                  <c:v>21</c:v>
                </c:pt>
                <c:pt idx="4">
                  <c:v>17</c:v>
                </c:pt>
                <c:pt idx="5">
                  <c:v>16</c:v>
                </c:pt>
                <c:pt idx="6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94B-4C7B-9056-9AA2E0F59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07FF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Cedar Heights</c:v>
                </c:pt>
                <c:pt idx="1">
                  <c:v>Lanka Pearl Resort</c:v>
                </c:pt>
                <c:pt idx="2">
                  <c:v>Desert Pearl Resort</c:v>
                </c:pt>
                <c:pt idx="3">
                  <c:v>Thames Crown Hotel</c:v>
                </c:pt>
                <c:pt idx="4">
                  <c:v>Sapphire Resort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70</c:v>
                </c:pt>
                <c:pt idx="2">
                  <c:v>64</c:v>
                </c:pt>
                <c:pt idx="3">
                  <c:v>57</c:v>
                </c:pt>
                <c:pt idx="4">
                  <c:v>57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986-4CB7-9778-D70BDEA7C6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365760"/>
            <a:ext cx="2286000" cy="2286000"/>
          </a:xfrm>
          <a:prstGeom prst="ellipse">
            <a:avLst/>
          </a:prstGeom>
          <a:solidFill>
            <a:srgbClr val="0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920240"/>
            <a:ext cx="1234440" cy="1234440"/>
          </a:xfrm>
          <a:prstGeom prst="ellipse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3749039"/>
            <a:ext cx="1828800" cy="1828800"/>
          </a:xfrm>
          <a:prstGeom prst="ellipse">
            <a:avLst/>
          </a:prstGeom>
          <a:solidFill>
            <a:srgbClr val="1B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77724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00B9E8"/>
                </a:solidFill>
                <a:latin typeface="Aptos"/>
              </a:defRPr>
            </a:pPr>
            <a:r>
              <a:t>TRAVEL &amp;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77724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71800"/>
            <a:ext cx="6949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0">
                <a:solidFill>
                  <a:srgbClr val="DAE7F4"/>
                </a:solidFill>
                <a:latin typeface="Aptos"/>
              </a:defRPr>
            </a:pPr>
            <a:r>
              <a:t>Exploratory Data Analysis &amp; Business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7315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1,000 bookings  |  29 columns  |  Python, Pandas &amp; Seaborn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C2D2E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A snapshot of the booking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514600" cy="123444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1737360"/>
            <a:ext cx="222199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007FFF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258568"/>
            <a:ext cx="222199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TOTAL BOOKINGS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00200"/>
            <a:ext cx="2514600" cy="123444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9584" y="1737360"/>
            <a:ext cx="222199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00B9E8"/>
                </a:solidFill>
                <a:latin typeface="Aptos"/>
              </a:defRPr>
            </a:pPr>
            <a:r>
              <a:t>65.5%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2258568"/>
            <a:ext cx="222199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CUSTOMERS FROM INDIA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2514600" cy="123444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27064" y="1737360"/>
            <a:ext cx="222199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229954"/>
                </a:solidFill>
                <a:latin typeface="Aptos"/>
              </a:defRPr>
            </a:pPr>
            <a:r>
              <a:t>68.2%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2258568"/>
            <a:ext cx="222199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TRAVEL BY FLIGHT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600200"/>
            <a:ext cx="2514600" cy="123444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24544" y="1737360"/>
            <a:ext cx="222199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EE9123"/>
                </a:solidFill>
                <a:latin typeface="Aptos"/>
              </a:defRPr>
            </a:pPr>
            <a:r>
              <a:t>14.1%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2258568"/>
            <a:ext cx="222199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CANCELLATION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515600" cy="256032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445"/>
                </a:solidFill>
                <a:latin typeface="Aptos"/>
              </a:defRPr>
            </a:pPr>
            <a:r>
              <a:t>•  Most bookings are completed: 772 of 1,000 (77.2%).</a:t>
            </a:r>
          </a:p>
          <a:p>
            <a:pPr>
              <a:spcAft>
                <a:spcPts val="1200"/>
              </a:spcAft>
              <a:defRPr sz="1700">
                <a:solidFill>
                  <a:srgbClr val="263445"/>
                </a:solidFill>
                <a:latin typeface="Aptos"/>
              </a:defRPr>
            </a:pPr>
            <a:r>
              <a:t>•  Breakfast Included is the most common meal plan (39.2%).</a:t>
            </a:r>
          </a:p>
          <a:p>
            <a:pPr>
              <a:spcAft>
                <a:spcPts val="1200"/>
              </a:spcAft>
              <a:defRPr sz="1700">
                <a:solidFill>
                  <a:srgbClr val="263445"/>
                </a:solidFill>
                <a:latin typeface="Aptos"/>
              </a:defRPr>
            </a:pPr>
            <a:r>
              <a:t>•  UPI is the leading payment method (29.7%).</a:t>
            </a:r>
          </a:p>
          <a:p>
            <a:pPr>
              <a:spcAft>
                <a:spcPts val="1200"/>
              </a:spcAft>
              <a:defRPr sz="1700">
                <a:solidFill>
                  <a:srgbClr val="263445"/>
                </a:solidFill>
                <a:latin typeface="Aptos"/>
              </a:defRPr>
            </a:pPr>
            <a:r>
              <a:t>•  Trip cost is associated more with group size and room requirements than customer age.</a:t>
            </a:r>
          </a:p>
          <a:p>
            <a:pPr>
              <a:spcAft>
                <a:spcPts val="1200"/>
              </a:spcAft>
              <a:defRPr sz="1700">
                <a:solidFill>
                  <a:srgbClr val="263445"/>
                </a:solidFill>
                <a:latin typeface="Aptos"/>
              </a:defRPr>
            </a:pPr>
            <a:r>
              <a:t>•  Service and arrangement feedback indicates opportunities to improve the customer experience.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Dataset &amp; Analytical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What was analyzed and 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2240280" cy="114300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3544" y="1691639"/>
            <a:ext cx="19476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007FFF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212848"/>
            <a:ext cx="194767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554480"/>
            <a:ext cx="2240280" cy="114300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92424" y="1691639"/>
            <a:ext cx="19476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00B9E8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2424" y="2212848"/>
            <a:ext cx="194767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554480"/>
            <a:ext cx="2240280" cy="114300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61304" y="1691639"/>
            <a:ext cx="19476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22995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1304" y="2212848"/>
            <a:ext cx="194767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54480"/>
            <a:ext cx="2240280" cy="114300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3" y="1691639"/>
            <a:ext cx="19476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EE9123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212848"/>
            <a:ext cx="194767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0F2340"/>
                </a:solidFill>
                <a:latin typeface="Aptos"/>
              </a:defRPr>
            </a:pPr>
            <a:r>
              <a:t>Tools &amp;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40"/>
            <a:ext cx="10424160" cy="228600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Python: Pandas, NumPy, Matplotlib, Seaborn and SciPy</a:t>
            </a:r>
          </a:p>
          <a:p>
            <a:pPr>
              <a:spcAft>
                <a:spcPts val="8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Data profiling: data types, descriptive statistics and category frequencies</a:t>
            </a:r>
          </a:p>
          <a:p>
            <a:pPr>
              <a:spcAft>
                <a:spcPts val="8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EDA: distributions, monthly/yearly patterns and cost heatmap</a:t>
            </a:r>
          </a:p>
          <a:p>
            <a:pPr>
              <a:spcAft>
                <a:spcPts val="8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Relationship analysis: correlation, country and hotel comparisons</a:t>
            </a:r>
          </a:p>
          <a:p>
            <a:pPr>
              <a:spcAft>
                <a:spcPts val="8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Statistical test: independent two-sample t-test for travel cost by gender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Customer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Who is making the bookings?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0F2340"/>
                </a:solidFill>
                <a:latin typeface="Aptos"/>
              </a:defRPr>
            </a:pPr>
            <a:r>
              <a:t>Bookings by gender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82880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481328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0F2340"/>
                </a:solidFill>
                <a:latin typeface="Aptos"/>
              </a:defRPr>
            </a:pPr>
            <a:r>
              <a:t>Top customer countries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8288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166360"/>
            <a:ext cx="10332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>
                <a:solidFill>
                  <a:srgbClr val="263445"/>
                </a:solidFill>
                <a:latin typeface="Aptos"/>
              </a:defRPr>
            </a:pPr>
            <a:r>
              <a:t>Female customers represent 56.8% of bookings. India is the dominant customer market, contributing 65.5% of all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Booking &amp; Travel Preferences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The most common choices in 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27048"/>
            <a:ext cx="5212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0F2340"/>
                </a:solidFill>
                <a:latin typeface="Aptos"/>
              </a:defRPr>
            </a:pPr>
            <a:r>
              <a:t>Booking status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874519"/>
          <a:ext cx="52120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52704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0F2340"/>
                </a:solidFill>
                <a:latin typeface="Aptos"/>
              </a:defRPr>
            </a:pPr>
            <a:r>
              <a:t>Transportation type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1874519"/>
          <a:ext cx="48463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>
                <a:solidFill>
                  <a:srgbClr val="263445"/>
                </a:solidFill>
                <a:latin typeface="Aptos"/>
              </a:defRPr>
            </a:pPr>
            <a:r>
              <a:t>Breakfast Included leads meal plans (392 bookings). UPI is the most-used payment option (297 bookings).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Trip Cost &amp; Travel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Group size and accommodation needs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468880" cy="118872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264" y="1737360"/>
            <a:ext cx="21762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007FFF"/>
                </a:solidFill>
                <a:latin typeface="Aptos"/>
              </a:defRPr>
            </a:pPr>
            <a:r>
              <a:t>₹227,839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258568"/>
            <a:ext cx="21762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MEAN TOTAL TRIP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00200"/>
            <a:ext cx="2468880" cy="118872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66744" y="1737360"/>
            <a:ext cx="21762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00B9E8"/>
                </a:solidFill>
                <a:latin typeface="Aptos"/>
              </a:defRPr>
            </a:pPr>
            <a:r>
              <a:t>₹157,200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258568"/>
            <a:ext cx="21762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MEDIAN TRIP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2468880" cy="118872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737360"/>
            <a:ext cx="21762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229954"/>
                </a:solidFill>
                <a:latin typeface="Aptos"/>
              </a:defRPr>
            </a:pPr>
            <a:r>
              <a:t>5.4 nights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258568"/>
            <a:ext cx="21762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AVERAGE STAY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600200"/>
            <a:ext cx="2468880" cy="118872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61704" y="1737360"/>
            <a:ext cx="21762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EE9123"/>
                </a:solidFill>
                <a:latin typeface="Aptos"/>
              </a:defRPr>
            </a:pPr>
            <a:r>
              <a:t>34.5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1704" y="2258568"/>
            <a:ext cx="217627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AVERAGE CUSTOMER 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54680"/>
            <a:ext cx="5120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0F2340"/>
                </a:solidFill>
                <a:latin typeface="Aptos"/>
              </a:defRPr>
            </a:pPr>
            <a:r>
              <a:rPr dirty="0"/>
              <a:t>Correlation with total trip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634" y="3419856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0F2340"/>
                </a:solidFill>
                <a:latin typeface="Aptos"/>
              </a:defRPr>
            </a:pPr>
            <a:r>
              <a:rPr dirty="0"/>
              <a:t>Correlation coefficient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68680" y="3657600"/>
          <a:ext cx="54864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720840" y="3429000"/>
            <a:ext cx="4663440" cy="228600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Larger groups tend to require more rooms.</a:t>
            </a:r>
          </a:p>
          <a:p>
            <a:pPr>
              <a:spcAft>
                <a:spcPts val="12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Trip cost has a moderate positive relationship with room count and traveller count.</a:t>
            </a:r>
          </a:p>
          <a:p>
            <a:pPr>
              <a:spcAft>
                <a:spcPts val="12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Customer age shows almost no meaningful correlation with trip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Seasonality &amp; Booking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Travel dates span January 2024 to February 2027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0F2340"/>
                </a:solidFill>
                <a:latin typeface="Aptos"/>
              </a:defRPr>
            </a:pPr>
            <a:r>
              <a:t>Travel bookings by 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920240"/>
          <a:ext cx="50292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78308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0F2340"/>
                </a:solidFill>
                <a:latin typeface="Aptos"/>
              </a:defRPr>
            </a:pPr>
            <a:r>
              <a:t>What the notebook indicates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4846320" cy="274320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 Travel activity is not uniform across months.</a:t>
            </a:r>
          </a:p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 The busiest years shown are 2025 and 2026.</a:t>
            </a:r>
          </a:p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 2027 has only partial-year coverage and should not be compared directly with full years.</a:t>
            </a:r>
          </a:p>
          <a:p>
            <a:pPr>
              <a:spcAft>
                <a:spcPts val="1200"/>
              </a:spcAft>
              <a:defRPr sz="1600">
                <a:solidFill>
                  <a:srgbClr val="263445"/>
                </a:solidFill>
                <a:latin typeface="Aptos"/>
              </a:defRPr>
            </a:pPr>
            <a:r>
              <a:t>•  Date-specific cost variation suggests pricing and budgeting should account for peak periods.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Cancellation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141 bookings were cancelled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560320" cy="123444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264" y="1691639"/>
            <a:ext cx="226771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EE9123"/>
                </a:solidFill>
                <a:latin typeface="Aptos"/>
              </a:defRPr>
            </a:pPr>
            <a:r>
              <a:t>14.1%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212848"/>
            <a:ext cx="226771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OVERALL CANCELLATION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98648"/>
            <a:ext cx="6492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0F2340"/>
                </a:solidFill>
                <a:latin typeface="Aptos"/>
              </a:defRPr>
            </a:pPr>
            <a:r>
              <a:t>Cancellation reasons (counts)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3246120"/>
          <a:ext cx="64922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0" y="1691640"/>
            <a:ext cx="3200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0F2340"/>
                </a:solidFill>
                <a:latin typeface="Aptos"/>
              </a:defRPr>
            </a:pPr>
            <a:r>
              <a:t>Monthly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3657600" cy="347472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 January is reported as the highest month at about 23%.</a:t>
            </a:r>
          </a:p>
          <a:p>
            <a:pPr>
              <a:spcAft>
                <a:spcPts val="10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 December is the lowest at about 10%.</a:t>
            </a:r>
          </a:p>
          <a:p>
            <a:pPr>
              <a:spcAft>
                <a:spcPts val="10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 Yearly cancellation rates reported in the notebook rise from 29.84% (2024) to 34.00% (2025) and 36.16% (2026).</a:t>
            </a:r>
          </a:p>
          <a:p>
            <a:pPr>
              <a:spcAft>
                <a:spcPts val="10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 Interpret year-to-year rates cautiously because coverage may be partial.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Hotels &amp; Cost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Accommodation scale and cost differences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0F2340"/>
                </a:solidFill>
                <a:latin typeface="Aptos"/>
              </a:defRPr>
            </a:pPr>
            <a:r>
              <a:t>Top hotels by total rooms in bookings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82880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828800"/>
            <a:ext cx="4389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0F2340"/>
                </a:solidFill>
                <a:latin typeface="Aptos"/>
              </a:defRPr>
            </a:pPr>
            <a:r>
              <a:t>Cost-related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389120" cy="292608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Flights have the highest median trip cost and widest spread.</a:t>
            </a:r>
          </a:p>
          <a:p>
            <a:pPr>
              <a:spcAft>
                <a:spcPts val="12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Train and car trips are generally less expensive in the dataset.</a:t>
            </a:r>
          </a:p>
          <a:p>
            <a:pPr>
              <a:spcAft>
                <a:spcPts val="12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Meal plan, booking status and payment method show substantial cost overlap.</a:t>
            </a:r>
          </a:p>
          <a:p>
            <a:pPr>
              <a:spcAft>
                <a:spcPts val="1200"/>
              </a:spcAft>
              <a:defRPr sz="1500">
                <a:solidFill>
                  <a:srgbClr val="263445"/>
                </a:solidFill>
                <a:latin typeface="Aptos"/>
              </a:defRPr>
            </a:pPr>
            <a:r>
              <a:t>•  A small number of high-cost trips appear as outliers.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Hypothesis Test: Travel Cost by Gender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Independent two-sample t-test (Welch's t-test)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0F2340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10058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0">
                <a:solidFill>
                  <a:srgbClr val="263445"/>
                </a:solidFill>
                <a:latin typeface="Aptos"/>
              </a:defRPr>
            </a:pPr>
            <a:r>
              <a:t>Is average travel cost significantly different between male and female customers?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88920"/>
            <a:ext cx="2560320" cy="123444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2926079"/>
            <a:ext cx="226771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007FFF"/>
                </a:solidFill>
                <a:latin typeface="Aptos"/>
              </a:defRPr>
            </a:pPr>
            <a:r>
              <a:t>−0.92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447287"/>
            <a:ext cx="226771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T-STATISTIC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788920"/>
            <a:ext cx="2560320" cy="123444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9624" y="2926079"/>
            <a:ext cx="226771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00B9E8"/>
                </a:solidFill>
                <a:latin typeface="Aptos"/>
              </a:defRPr>
            </a:pPr>
            <a:r>
              <a:t>0.36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47287"/>
            <a:ext cx="226771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P-VALUE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788920"/>
            <a:ext cx="2560320" cy="1234440"/>
          </a:xfrm>
          <a:prstGeom prst="roundRect">
            <a:avLst/>
          </a:prstGeom>
          <a:solidFill>
            <a:srgbClr val="EDF5FC"/>
          </a:solidFill>
          <a:ln>
            <a:solidFill>
              <a:srgbClr val="DA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2926079"/>
            <a:ext cx="226771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EE9123"/>
                </a:solidFill>
                <a:latin typeface="Aptos"/>
              </a:defRPr>
            </a:pPr>
            <a:r>
              <a:t>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447287"/>
            <a:ext cx="226771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63445"/>
                </a:solidFill>
                <a:latin typeface="Aptos"/>
              </a:defRPr>
            </a:pPr>
            <a:r>
              <a:t>SIGNIFICANCE LEVEL (α)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5486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300" b="1">
                <a:solidFill>
                  <a:srgbClr val="229954"/>
                </a:solidFill>
                <a:latin typeface="Aptos"/>
              </a:defRPr>
            </a:pPr>
            <a:r>
              <a:t>Decision: Fail to reject H₀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058400" cy="114300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 Because p = 0.36 is greater than α = 0.05, the result is not statistically significant.</a:t>
            </a:r>
          </a:p>
          <a:p>
            <a:pPr>
              <a:spcAft>
                <a:spcPts val="5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 The dataset does not provide enough evidence that average trip cost differs by gender.</a:t>
            </a:r>
          </a:p>
          <a:p>
            <a:pPr>
              <a:spcAft>
                <a:spcPts val="500"/>
              </a:spcAft>
              <a:defRPr sz="1400">
                <a:solidFill>
                  <a:srgbClr val="263445"/>
                </a:solidFill>
                <a:latin typeface="Aptos"/>
              </a:defRPr>
            </a:pPr>
            <a:r>
              <a:t>•  Consider destination, trip duration, season and group size as additional factors.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0F2340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8788B"/>
                </a:solidFill>
                <a:latin typeface="Aptos"/>
              </a:defRPr>
            </a:pPr>
            <a:r>
              <a:t>Actions suggested by the observed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0292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0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9928"/>
            <a:ext cx="56692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600200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0F2340"/>
                </a:solidFill>
                <a:latin typeface="Aptos"/>
              </a:defRPr>
            </a:pPr>
            <a:r>
              <a:t>Prioritize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965960"/>
            <a:ext cx="443484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263445"/>
                </a:solidFill>
                <a:latin typeface="Aptos"/>
              </a:defRPr>
            </a:pPr>
            <a:r>
              <a:t>Focus campaigns and package planning on the largest source market.</a:t>
            </a:r>
          </a:p>
        </p:txBody>
      </p:sp>
      <p:sp>
        <p:nvSpPr>
          <p:cNvPr id="9" name="Oval 8"/>
          <p:cNvSpPr/>
          <p:nvPr/>
        </p:nvSpPr>
        <p:spPr>
          <a:xfrm>
            <a:off x="6446520" y="1600200"/>
            <a:ext cx="566928" cy="566928"/>
          </a:xfrm>
          <a:prstGeom prst="ellipse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709928"/>
            <a:ext cx="56692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1600200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0F2340"/>
                </a:solidFill>
                <a:latin typeface="Aptos"/>
              </a:defRPr>
            </a:pPr>
            <a:r>
              <a:t>Plan for peak periods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1965960"/>
            <a:ext cx="443484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263445"/>
                </a:solidFill>
                <a:latin typeface="Aptos"/>
              </a:defRPr>
            </a:pPr>
            <a:r>
              <a:t>Use month- and date-level patterns to support pricing, staffing and inventory planning.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0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56692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017520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0F2340"/>
                </a:solidFill>
                <a:latin typeface="Aptos"/>
              </a:defRPr>
            </a:pPr>
            <a:r>
              <a:t>Reduce preventable cancellations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383279"/>
            <a:ext cx="443484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263445"/>
                </a:solidFill>
                <a:latin typeface="Aptos"/>
              </a:defRPr>
            </a:pPr>
            <a:r>
              <a:t>Review transport disruption, visa and budget-related cancellation journeys.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3017520"/>
            <a:ext cx="566928" cy="566928"/>
          </a:xfrm>
          <a:prstGeom prst="ellipse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127248"/>
            <a:ext cx="56692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3017520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0F2340"/>
                </a:solidFill>
                <a:latin typeface="Aptos"/>
              </a:defRPr>
            </a:pPr>
            <a:r>
              <a:t>Improve service 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383279"/>
            <a:ext cx="443484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263445"/>
                </a:solidFill>
                <a:latin typeface="Aptos"/>
              </a:defRPr>
            </a:pPr>
            <a:r>
              <a:t>Investigate feedback about arrangements, unmet expectations and poor service.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0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544568"/>
            <a:ext cx="56692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434840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0F2340"/>
                </a:solidFill>
                <a:latin typeface="Aptos"/>
              </a:defRPr>
            </a:pPr>
            <a:r>
              <a:t>Segment by trip needs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800600"/>
            <a:ext cx="443484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263445"/>
                </a:solidFill>
                <a:latin typeface="Aptos"/>
              </a:defRPr>
            </a:pPr>
            <a:r>
              <a:t>Build offers around group size, room requirements and transport preference.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4434840"/>
            <a:ext cx="566928" cy="566928"/>
          </a:xfrm>
          <a:prstGeom prst="ellipse">
            <a:avLst/>
          </a:prstGeom>
          <a:solidFill>
            <a:srgbClr val="00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544568"/>
            <a:ext cx="56692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4434840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0F2340"/>
                </a:solidFill>
                <a:latin typeface="Aptos"/>
              </a:defRPr>
            </a:pPr>
            <a:r>
              <a:t>Monitor satisfaction &amp; costs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4800600"/>
            <a:ext cx="443484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263445"/>
                </a:solidFill>
                <a:latin typeface="Aptos"/>
              </a:defRPr>
            </a:pPr>
            <a:r>
              <a:t>Track cancellation rate, customer rating, average trip cost and booking completion over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6878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00B9E8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731520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Turn booking data into</a:t>
            </a:r>
            <a:br/>
            <a:r>
              <a:t>better travel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9966960" cy="251460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India is the strongest source market in the dataset.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Flights dominate transportation choices; UPI leads payments.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Group size and room requirements are linked to higher trip costs.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Cancellations and mixed service feedback are opportunities for improvement.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The gender-based t-test found no statistically significant difference in average trip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00B9E8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C2D2E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835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Ravi Kumar Gupta</cp:lastModifiedBy>
  <cp:revision>2</cp:revision>
  <dcterms:created xsi:type="dcterms:W3CDTF">2013-01-27T09:14:16Z</dcterms:created>
  <dcterms:modified xsi:type="dcterms:W3CDTF">2026-10-11T17:27:21Z</dcterms:modified>
  <cp:category/>
</cp:coreProperties>
</file>